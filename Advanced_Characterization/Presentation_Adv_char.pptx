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4"/>
  </p:sldMasterIdLst>
  <p:notesMasterIdLst>
    <p:notesMasterId r:id="rId16"/>
  </p:notesMasterIdLst>
  <p:handoutMasterIdLst>
    <p:handoutMasterId r:id="rId17"/>
  </p:handoutMasterIdLst>
  <p:sldIdLst>
    <p:sldId id="256" r:id="rId5"/>
    <p:sldId id="316" r:id="rId6"/>
    <p:sldId id="347" r:id="rId7"/>
    <p:sldId id="342" r:id="rId8"/>
    <p:sldId id="346" r:id="rId9"/>
    <p:sldId id="349" r:id="rId10"/>
    <p:sldId id="348" r:id="rId11"/>
    <p:sldId id="350" r:id="rId12"/>
    <p:sldId id="351" r:id="rId13"/>
    <p:sldId id="352" r:id="rId14"/>
    <p:sldId id="327" r:id="rId15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lides" id="{EE36AF8D-5BEB-E041-9101-0495C1E2400F}">
          <p14:sldIdLst>
            <p14:sldId id="256"/>
            <p14:sldId id="316"/>
            <p14:sldId id="347"/>
            <p14:sldId id="342"/>
            <p14:sldId id="346"/>
            <p14:sldId id="349"/>
            <p14:sldId id="348"/>
            <p14:sldId id="350"/>
            <p14:sldId id="351"/>
            <p14:sldId id="352"/>
            <p14:sldId id="32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emola Michael Adegbile" initials="AMA" lastIdx="1" clrIdx="0">
    <p:extLst>
      <p:ext uri="{19B8F6BF-5375-455C-9EA6-DF929625EA0E}">
        <p15:presenceInfo xmlns:p15="http://schemas.microsoft.com/office/powerpoint/2012/main" userId="S::aadegb@taltech.ee::4b66100a-cab5-4ec7-b915-66a89aed31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2B60"/>
    <a:srgbClr val="4FBFD3"/>
    <a:srgbClr val="E4067E"/>
    <a:srgbClr val="4F4C4E"/>
    <a:srgbClr val="808285"/>
    <a:srgbClr val="96004F"/>
    <a:srgbClr val="4D4D4F"/>
    <a:srgbClr val="C9C9C9"/>
    <a:srgbClr val="D385A9"/>
    <a:srgbClr val="C25B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Kujunduslaad 1 – rõhk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Kujunduslaad 1 – rõhk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37233B-0833-EF40-A4A4-4DDA2CCDF12B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8668B-42F9-8648-A8AF-436CB12C4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6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7A5CFB8B-B9EB-4E3F-B143-7BE1A009C8C1}" type="datetimeFigureOut">
              <a:rPr lang="en-US"/>
              <a:pPr>
                <a:defRPr/>
              </a:pPr>
              <a:t>5/2/2025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89D10C4C-EAC2-4D66-B9F8-E052F2E25BCC}" type="slidenum">
              <a:rPr lang="en-US" altLang="et-EE"/>
              <a:pPr>
                <a:defRPr/>
              </a:pPr>
              <a:t>‹#›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034850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everyd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lt 16">
            <a:extLst>
              <a:ext uri="{FF2B5EF4-FFF2-40B4-BE49-F238E27FC236}">
                <a16:creationId xmlns:a16="http://schemas.microsoft.com/office/drawing/2014/main" id="{832C7D4B-18B0-4597-A1E7-2A51EC61B1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1999" cy="5705497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11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942276" y="4472120"/>
            <a:ext cx="8892396" cy="4896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tx2"/>
                </a:solidFill>
                <a:latin typeface="Verdana" charset="0"/>
              </a:defRPr>
            </a:lvl1pPr>
          </a:lstStyle>
          <a:p>
            <a:r>
              <a:rPr lang="et-EE" sz="3600" err="1"/>
              <a:t>Presentation</a:t>
            </a:r>
            <a:r>
              <a:rPr lang="et-EE" sz="3600"/>
              <a:t> </a:t>
            </a:r>
            <a:r>
              <a:rPr lang="et-EE" sz="3600" err="1"/>
              <a:t>title</a:t>
            </a:r>
            <a:endParaRPr lang="et-EE" sz="3600"/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964578" y="6013392"/>
            <a:ext cx="4738535" cy="78274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err="1">
                <a:solidFill>
                  <a:srgbClr val="332B60"/>
                </a:solidFill>
              </a:rPr>
              <a:t>Name</a:t>
            </a:r>
            <a:r>
              <a:rPr lang="et-EE" sz="1800">
                <a:solidFill>
                  <a:srgbClr val="332B60"/>
                </a:solidFill>
              </a:rPr>
              <a:t> </a:t>
            </a:r>
            <a:r>
              <a:rPr lang="et-EE" sz="1800" err="1">
                <a:solidFill>
                  <a:srgbClr val="332B60"/>
                </a:solidFill>
              </a:rPr>
              <a:t>Familyname</a:t>
            </a:r>
            <a:br>
              <a:rPr lang="et-EE" sz="1800">
                <a:solidFill>
                  <a:srgbClr val="332B60"/>
                </a:solidFill>
              </a:rPr>
            </a:br>
            <a:r>
              <a:rPr lang="et-EE" sz="1800" err="1"/>
              <a:t>Faculty</a:t>
            </a:r>
            <a:r>
              <a:rPr lang="et-EE" sz="1800"/>
              <a:t> </a:t>
            </a:r>
            <a:r>
              <a:rPr lang="et-EE" sz="1800">
                <a:solidFill>
                  <a:srgbClr val="332B60"/>
                </a:solidFill>
              </a:rPr>
              <a:t>/ </a:t>
            </a:r>
            <a:r>
              <a:rPr lang="et-EE" sz="1800" err="1">
                <a:solidFill>
                  <a:srgbClr val="332B60"/>
                </a:solidFill>
              </a:rPr>
              <a:t>Institute</a:t>
            </a:r>
            <a:r>
              <a:rPr lang="et-EE" sz="1800">
                <a:solidFill>
                  <a:srgbClr val="332B60"/>
                </a:solidFill>
              </a:rPr>
              <a:t> 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942276" y="4961733"/>
            <a:ext cx="8892396" cy="48142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accent1"/>
                </a:solidFill>
                <a:latin typeface="Verdana" charset="0"/>
              </a:defRPr>
            </a:lvl1pPr>
          </a:lstStyle>
          <a:p>
            <a:r>
              <a:rPr lang="et-EE" sz="3600"/>
              <a:t>On </a:t>
            </a:r>
            <a:r>
              <a:rPr lang="et-EE" sz="3600" err="1"/>
              <a:t>two</a:t>
            </a:r>
            <a:r>
              <a:rPr lang="et-EE" sz="3600"/>
              <a:t> </a:t>
            </a:r>
            <a:r>
              <a:rPr lang="et-EE" sz="3600" err="1"/>
              <a:t>rows</a:t>
            </a:r>
            <a:r>
              <a:rPr lang="et-EE" sz="3600"/>
              <a:t> </a:t>
            </a:r>
            <a:r>
              <a:rPr lang="et-EE" sz="3600" err="1"/>
              <a:t>if</a:t>
            </a:r>
            <a:r>
              <a:rPr lang="et-EE" sz="3600"/>
              <a:t> </a:t>
            </a:r>
            <a:r>
              <a:rPr lang="et-EE" sz="3600" err="1"/>
              <a:t>necessary</a:t>
            </a:r>
            <a:endParaRPr lang="et-EE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623AA-F127-438E-83EA-5A4B108798A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878878" y="6208816"/>
            <a:ext cx="1916097" cy="365125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chemeClr val="tx2"/>
                </a:solidFill>
                <a:latin typeface="+mn-lt"/>
              </a:defRPr>
            </a:lvl1pPr>
          </a:lstStyle>
          <a:p>
            <a:fld id="{753892C2-EB78-4D5A-B775-B61492AB87AF}" type="datetime1">
              <a:rPr lang="et-EE" smtClean="0"/>
              <a:t>02.05.2025</a:t>
            </a:fld>
            <a:endParaRPr lang="et-EE"/>
          </a:p>
        </p:txBody>
      </p:sp>
      <p:pic>
        <p:nvPicPr>
          <p:cNvPr id="15" name="Picture 3" descr="C:\Users\ipihu\Desktop\logo.png">
            <a:extLst>
              <a:ext uri="{FF2B5EF4-FFF2-40B4-BE49-F238E27FC236}">
                <a16:creationId xmlns:a16="http://schemas.microsoft.com/office/drawing/2014/main" id="{317F9883-BBE6-4691-9B4E-6E83B08E5F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86800" y="1966097"/>
            <a:ext cx="2449513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lt 12">
            <a:extLst>
              <a:ext uri="{FF2B5EF4-FFF2-40B4-BE49-F238E27FC236}">
                <a16:creationId xmlns:a16="http://schemas.microsoft.com/office/drawing/2014/main" id="{388DC574-8DC9-41D9-9FF1-A9465364E3D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676624" y="6205213"/>
            <a:ext cx="2446760" cy="3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372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in descending 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494517" cy="81088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577500"/>
            <a:ext cx="8802242" cy="3939063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lang="en-US" altLang="en-US" sz="1800" smtClean="0">
                <a:solidFill>
                  <a:srgbClr val="332B60"/>
                </a:solidFill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23912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400">
                <a:solidFill>
                  <a:srgbClr val="332B60"/>
                </a:solidFill>
              </a:defRPr>
            </a:lvl3pPr>
            <a:lvl4pPr marL="16002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2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0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endParaRPr lang="et-EE"/>
          </a:p>
          <a:p>
            <a:pPr lvl="0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611767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pos="13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B5F7B326-813F-48FE-A89E-578AEFA0CE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494517" cy="81088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48AB3674-C39F-4DA6-97F2-B4A2C52D87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577500"/>
            <a:ext cx="8802241" cy="393906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58775" marR="0" indent="-358775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358775" indent="-358775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2pPr>
            <a:lvl3pPr marL="358775" indent="-358775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3pPr>
            <a:lvl4pPr marL="2057400" marR="0" indent="-205740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>
                <a:tab pos="444500" algn="l"/>
              </a:tabLst>
              <a:defRPr sz="1800">
                <a:solidFill>
                  <a:srgbClr val="332B60"/>
                </a:solidFill>
              </a:defRPr>
            </a:lvl4pPr>
            <a:lvl5pPr marL="2057400" marR="0" indent="-205740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>
                <a:tab pos="444500" algn="l"/>
              </a:tabLst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272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494517" cy="80277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4" name="Chart Placeholder 13"/>
          <p:cNvSpPr>
            <a:spLocks noGrp="1"/>
          </p:cNvSpPr>
          <p:nvPr>
            <p:ph type="chart" sz="quarter" idx="15" hasCustomPrompt="1"/>
          </p:nvPr>
        </p:nvSpPr>
        <p:spPr>
          <a:xfrm>
            <a:off x="2174952" y="3124632"/>
            <a:ext cx="8790444" cy="2391932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069ADBBB-F52C-430F-81D8-C0553F11B1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71700" y="2052009"/>
            <a:ext cx="8790444" cy="901807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371600" indent="0">
              <a:buFont typeface="Verdana" panose="020B0604030504040204" pitchFamily="34" charset="0"/>
              <a:buNone/>
              <a:defRPr/>
            </a:lvl4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3C14B6D-2F63-42AE-803C-12721774D9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71700" y="1578522"/>
            <a:ext cx="8790444" cy="413669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1024216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656887" cy="810887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586046"/>
            <a:ext cx="8964612" cy="388032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2180246" y="2127902"/>
            <a:ext cx="8964613" cy="338866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35592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997" userDrawn="1">
          <p15:clr>
            <a:srgbClr val="FBAE40"/>
          </p15:clr>
        </p15:guide>
        <p15:guide id="3" orient="horz" pos="102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graphic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7" y="549275"/>
            <a:ext cx="6109380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Chart Placeholder 13"/>
          <p:cNvSpPr>
            <a:spLocks noGrp="1"/>
          </p:cNvSpPr>
          <p:nvPr>
            <p:ph type="chart" sz="quarter" idx="15" hasCustomPrompt="1"/>
          </p:nvPr>
        </p:nvSpPr>
        <p:spPr>
          <a:xfrm>
            <a:off x="6888163" y="549276"/>
            <a:ext cx="4248151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788C985-66A8-4BBB-B95C-8EB031C263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80248" y="1577500"/>
            <a:ext cx="4351731" cy="3939063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600200" marR="0" indent="-703263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2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0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97222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6044006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200" b="1" i="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7" hasCustomPrompt="1"/>
          </p:nvPr>
        </p:nvSpPr>
        <p:spPr>
          <a:xfrm>
            <a:off x="6888163" y="549276"/>
            <a:ext cx="4248151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611684"/>
            <a:ext cx="4351731" cy="3904879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600200" marR="0" indent="-796925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39501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2171700" y="5204390"/>
            <a:ext cx="4351731" cy="3121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8471"/>
            <a:ext cx="10656888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0" name="Text Placehold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6888164" y="5204389"/>
            <a:ext cx="4248542" cy="31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2" hasCustomPrompt="1"/>
          </p:nvPr>
        </p:nvSpPr>
        <p:spPr>
          <a:xfrm>
            <a:off x="2171701" y="1637322"/>
            <a:ext cx="4351338" cy="333633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23" hasCustomPrompt="1"/>
          </p:nvPr>
        </p:nvSpPr>
        <p:spPr>
          <a:xfrm>
            <a:off x="6888163" y="1637321"/>
            <a:ext cx="4248150" cy="333633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40557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9"/>
          <p:cNvSpPr>
            <a:spLocks noGrp="1"/>
          </p:cNvSpPr>
          <p:nvPr>
            <p:ph type="pic" sz="quarter" idx="17" hasCustomPrompt="1"/>
          </p:nvPr>
        </p:nvSpPr>
        <p:spPr>
          <a:xfrm>
            <a:off x="2171700" y="549276"/>
            <a:ext cx="5109317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10" name="Picture Placeholder 19"/>
          <p:cNvSpPr>
            <a:spLocks noGrp="1"/>
          </p:cNvSpPr>
          <p:nvPr>
            <p:ph type="pic" sz="quarter" idx="19" hasCustomPrompt="1"/>
          </p:nvPr>
        </p:nvSpPr>
        <p:spPr>
          <a:xfrm>
            <a:off x="7511753" y="3459344"/>
            <a:ext cx="3624561" cy="2057219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11" name="Picture Placeholder 19"/>
          <p:cNvSpPr>
            <a:spLocks noGrp="1"/>
          </p:cNvSpPr>
          <p:nvPr>
            <p:ph type="pic" sz="quarter" idx="20" hasCustomPrompt="1"/>
          </p:nvPr>
        </p:nvSpPr>
        <p:spPr>
          <a:xfrm>
            <a:off x="7511753" y="549275"/>
            <a:ext cx="3624561" cy="2709564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04787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1545"/>
            <a:ext cx="10656888" cy="83666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 b="1" i="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23"/>
          </p:nvPr>
        </p:nvSpPr>
        <p:spPr>
          <a:xfrm>
            <a:off x="2171700" y="1628776"/>
            <a:ext cx="8964613" cy="3887787"/>
          </a:xfrm>
          <a:prstGeom prst="rect">
            <a:avLst/>
          </a:prstGeom>
        </p:spPr>
        <p:txBody>
          <a:bodyPr/>
          <a:lstStyle>
            <a:lvl1pPr>
              <a:defRPr sz="1800" baseline="0">
                <a:solidFill>
                  <a:schemeClr val="bg1"/>
                </a:solidFill>
                <a:latin typeface="Verdana" charset="0"/>
              </a:defRPr>
            </a:lvl1pPr>
          </a:lstStyle>
          <a:p>
            <a:pPr lvl="0"/>
            <a:r>
              <a:rPr lang="et-EE" noProof="0"/>
              <a:t>Tabeli lisamiseks klõpsake ikooni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99663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656886" cy="84441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628775"/>
            <a:ext cx="8964612" cy="627315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2171700" y="2362989"/>
            <a:ext cx="8964611" cy="3153574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227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grpSp>
        <p:nvGrpSpPr>
          <p:cNvPr id="2" name="Group 1"/>
          <p:cNvGrpSpPr/>
          <p:nvPr userDrawn="1"/>
        </p:nvGrpSpPr>
        <p:grpSpPr>
          <a:xfrm>
            <a:off x="-1" y="1982167"/>
            <a:ext cx="12192000" cy="4875833"/>
            <a:chOff x="-1" y="1982167"/>
            <a:chExt cx="12192000" cy="4875833"/>
          </a:xfrm>
        </p:grpSpPr>
        <p:sp>
          <p:nvSpPr>
            <p:cNvPr id="7" name="Freeform 6"/>
            <p:cNvSpPr/>
            <p:nvPr userDrawn="1"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pic>
          <p:nvPicPr>
            <p:cNvPr id="8" name="Picture 3" descr="C:\Users\ipihu\Desktop\logo.png"/>
            <p:cNvPicPr>
              <a:picLocks noChangeAspect="1" noChangeArrowheads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800" y="1982167"/>
              <a:ext cx="244951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97922"/>
            <a:ext cx="10159444" cy="122686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accent1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t-EE" altLang="en-US" sz="2900" err="1">
                <a:solidFill>
                  <a:schemeClr val="tx2"/>
                </a:solidFill>
              </a:rPr>
              <a:t>Intermediate</a:t>
            </a:r>
            <a:r>
              <a:rPr lang="et-EE" altLang="en-US" sz="2900">
                <a:solidFill>
                  <a:schemeClr val="tx2"/>
                </a:solidFill>
              </a:rPr>
              <a:t> </a:t>
            </a:r>
            <a:r>
              <a:rPr lang="et-EE" altLang="en-US" sz="2900" err="1">
                <a:solidFill>
                  <a:schemeClr val="tx2"/>
                </a:solidFill>
              </a:rPr>
              <a:t>slide</a:t>
            </a:r>
            <a:br>
              <a:rPr lang="et-EE" altLang="en-US" sz="2900">
                <a:solidFill>
                  <a:schemeClr val="tx2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IF NECESSARY ON TWO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OR THREE ROWS</a:t>
            </a:r>
            <a:endParaRPr lang="en-US" altLang="en-US" sz="29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68397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3">
            <a:extLst>
              <a:ext uri="{FF2B5EF4-FFF2-40B4-BE49-F238E27FC236}">
                <a16:creationId xmlns:a16="http://schemas.microsoft.com/office/drawing/2014/main" id="{5CD619D2-C3BA-4D57-85CE-B9E0F7F5F7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8"/>
            <a:ext cx="6860680" cy="6881247"/>
          </a:xfrm>
          <a:prstGeom prst="rect">
            <a:avLst/>
          </a:prstGeom>
        </p:spPr>
      </p:pic>
      <p:grpSp>
        <p:nvGrpSpPr>
          <p:cNvPr id="11" name="Group 11">
            <a:extLst>
              <a:ext uri="{FF2B5EF4-FFF2-40B4-BE49-F238E27FC236}">
                <a16:creationId xmlns:a16="http://schemas.microsoft.com/office/drawing/2014/main" id="{F7596EE4-A1C1-4FEF-8368-9CF7D1AF1EF4}"/>
              </a:ext>
            </a:extLst>
          </p:cNvPr>
          <p:cNvGrpSpPr/>
          <p:nvPr userDrawn="1"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5543C13F-7821-4DAE-9A90-AC943FA5CF8D}"/>
                </a:ext>
              </a:extLst>
            </p:cNvPr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DCC11422-3994-43CA-8671-5ACFC608CFDB}"/>
                </a:ext>
              </a:extLst>
            </p:cNvPr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0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6588807" y="2171481"/>
            <a:ext cx="4570131" cy="233346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accent3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t-EE" altLang="en-US" sz="2900" err="1">
                <a:solidFill>
                  <a:schemeClr val="tx2"/>
                </a:solidFill>
              </a:rPr>
              <a:t>Intermediate</a:t>
            </a:r>
            <a:r>
              <a:rPr lang="et-EE" altLang="en-US" sz="2900">
                <a:solidFill>
                  <a:schemeClr val="tx2"/>
                </a:solidFill>
              </a:rPr>
              <a:t> </a:t>
            </a:r>
            <a:r>
              <a:rPr lang="et-EE" altLang="en-US" sz="2900" err="1">
                <a:solidFill>
                  <a:schemeClr val="tx2"/>
                </a:solidFill>
              </a:rPr>
              <a:t>slide</a:t>
            </a:r>
            <a:br>
              <a:rPr lang="et-EE" altLang="en-US" sz="2900">
                <a:solidFill>
                  <a:schemeClr val="tx2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IF NECESSARY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ON TWO OR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THREE ROWS</a:t>
            </a:r>
            <a:endParaRPr lang="en-US" altLang="en-US" sz="29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0075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3">
            <a:extLst>
              <a:ext uri="{FF2B5EF4-FFF2-40B4-BE49-F238E27FC236}">
                <a16:creationId xmlns:a16="http://schemas.microsoft.com/office/drawing/2014/main" id="{6EEF71EA-745A-4289-8EEB-C8FBF10371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8"/>
            <a:ext cx="12207498" cy="6881247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3F8F3CD-B427-4CDD-9A77-CE9B5003B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50422" y="3901508"/>
            <a:ext cx="5230027" cy="139688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900" b="1" i="0" cap="all" baseline="0">
                <a:solidFill>
                  <a:schemeClr val="bg1"/>
                </a:solidFill>
                <a:latin typeface="Verdana" charset="0"/>
              </a:defRPr>
            </a:lvl1pPr>
          </a:lstStyle>
          <a:p>
            <a:pPr lvl="0"/>
            <a:r>
              <a:rPr lang="et-EE"/>
              <a:t>INTERMEDIATE SLIDE</a:t>
            </a:r>
          </a:p>
          <a:p>
            <a:pPr lvl="0"/>
            <a:r>
              <a:rPr lang="et-EE"/>
              <a:t>IF NECESSARY ON TWO OR THREE ROWS</a:t>
            </a:r>
          </a:p>
        </p:txBody>
      </p:sp>
    </p:spTree>
    <p:extLst>
      <p:ext uri="{BB962C8B-B14F-4D97-AF65-F5344CB8AC3E}">
        <p14:creationId xmlns:p14="http://schemas.microsoft.com/office/powerpoint/2010/main" val="25719870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sp>
        <p:nvSpPr>
          <p:cNvPr id="15" name="Freeform 14"/>
          <p:cNvSpPr/>
          <p:nvPr userDrawn="1"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3884" y="1975732"/>
            <a:ext cx="2447645" cy="1370681"/>
          </a:xfrm>
          <a:prstGeom prst="rect">
            <a:avLst/>
          </a:prstGeom>
        </p:spPr>
      </p:pic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8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55192"/>
            <a:ext cx="9469104" cy="168833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tx2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pPr lvl="0">
              <a:defRPr/>
            </a:pPr>
            <a:r>
              <a:rPr lang="en-US" altLang="en-US"/>
              <a:t>TALLINN</a:t>
            </a:r>
            <a:r>
              <a:rPr lang="et-EE" altLang="en-US"/>
              <a:t> UNIVERSITY OF TECHNOLOGY</a:t>
            </a:r>
            <a:endParaRPr lang="en-US" altLang="en-US"/>
          </a:p>
          <a:p>
            <a:r>
              <a:rPr lang="en-US" altLang="en-US" sz="2000" cap="none">
                <a:latin typeface="Verdana" panose="020B0604030504040204" pitchFamily="34" charset="0"/>
              </a:rPr>
              <a:t>t</a:t>
            </a:r>
            <a:r>
              <a:rPr lang="et-EE" altLang="en-US" sz="2000" cap="none" err="1">
                <a:latin typeface="Verdana" panose="020B0604030504040204" pitchFamily="34" charset="0"/>
              </a:rPr>
              <a:t>altech</a:t>
            </a:r>
            <a:r>
              <a:rPr lang="en-US" altLang="en-US" sz="2000" cap="none">
                <a:latin typeface="Verdana" panose="020B0604030504040204" pitchFamily="34" charset="0"/>
              </a:rPr>
              <a:t>.</a:t>
            </a:r>
            <a:r>
              <a:rPr lang="en-US" altLang="en-US" sz="2000" cap="none" err="1">
                <a:latin typeface="Verdana" panose="020B0604030504040204" pitchFamily="34" charset="0"/>
              </a:rPr>
              <a:t>ee</a:t>
            </a:r>
            <a:endParaRPr lang="en-US" altLang="en-US" sz="2000" cap="none"/>
          </a:p>
        </p:txBody>
      </p:sp>
      <p:pic>
        <p:nvPicPr>
          <p:cNvPr id="3" name="Pilt 2">
            <a:extLst>
              <a:ext uri="{FF2B5EF4-FFF2-40B4-BE49-F238E27FC236}">
                <a16:creationId xmlns:a16="http://schemas.microsoft.com/office/drawing/2014/main" id="{4947FA58-87C0-44A2-98EC-3D27BA98F1C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693884" y="5999711"/>
            <a:ext cx="2447645" cy="32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138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5E0AB993-4BFC-4F9E-97E1-F2FF3173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19" y="365125"/>
            <a:ext cx="10515600" cy="956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043F4D-4C1B-412C-914B-5B86DDA7F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71700" y="1547565"/>
            <a:ext cx="9182100" cy="3968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buClr>
                <a:srgbClr val="E4067E"/>
              </a:buClr>
            </a:pP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Vivamus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Proin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dapibus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Praesent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ultrice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ces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nulla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sit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amet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lacus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>
                <a:solidFill>
                  <a:srgbClr val="332B60"/>
                </a:solidFill>
              </a:rPr>
              <a:t>Ut vitae </a:t>
            </a:r>
            <a:r>
              <a:rPr lang="en-US" altLang="en-US" sz="1800" err="1">
                <a:solidFill>
                  <a:srgbClr val="332B60"/>
                </a:solidFill>
              </a:rPr>
              <a:t>nunc</a:t>
            </a:r>
            <a:r>
              <a:rPr lang="en-US" altLang="en-US" sz="1800">
                <a:solidFill>
                  <a:srgbClr val="332B60"/>
                </a:solidFill>
              </a:rPr>
              <a:t> non </a:t>
            </a:r>
            <a:r>
              <a:rPr lang="en-US" altLang="en-US" sz="1800" err="1">
                <a:solidFill>
                  <a:srgbClr val="332B60"/>
                </a:solidFill>
              </a:rPr>
              <a:t>pede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tristique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sagittis</a:t>
            </a:r>
            <a:r>
              <a:rPr lang="en-US" altLang="en-US" sz="1800">
                <a:solidFill>
                  <a:srgbClr val="332B60"/>
                </a:solidFill>
              </a:rPr>
              <a:t>. </a:t>
            </a:r>
            <a:r>
              <a:rPr lang="en-US" altLang="en-US" sz="1800" err="1">
                <a:solidFill>
                  <a:srgbClr val="332B60"/>
                </a:solidFill>
              </a:rPr>
              <a:t>Aliquam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imperdiet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elit</a:t>
            </a:r>
            <a:r>
              <a:rPr lang="en-US" altLang="en-US" sz="1800">
                <a:solidFill>
                  <a:srgbClr val="332B60"/>
                </a:solidFill>
              </a:rPr>
              <a:t> vel </a:t>
            </a:r>
            <a:r>
              <a:rPr lang="en-US" altLang="en-US" sz="1800" err="1">
                <a:solidFill>
                  <a:srgbClr val="332B60"/>
                </a:solidFill>
              </a:rPr>
              <a:t>justo</a:t>
            </a:r>
            <a:r>
              <a:rPr lang="en-US" altLang="en-US" sz="1800">
                <a:solidFill>
                  <a:srgbClr val="332B60"/>
                </a:solidFill>
              </a:rPr>
              <a:t>. </a:t>
            </a:r>
          </a:p>
          <a:p>
            <a:pPr lvl="2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err="1">
                <a:solidFill>
                  <a:srgbClr val="332B60"/>
                </a:solidFill>
              </a:rPr>
              <a:t>Quisque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porttitor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imperiandiet</a:t>
            </a:r>
            <a:r>
              <a:rPr lang="en-US" altLang="en-US" sz="1800">
                <a:solidFill>
                  <a:srgbClr val="332B60"/>
                </a:solidFill>
              </a:rPr>
              <a:t> qua.</a:t>
            </a:r>
          </a:p>
          <a:p>
            <a:pPr lvl="3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</a:p>
          <a:p>
            <a:pPr lvl="4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</a:p>
          <a:p>
            <a:pPr lvl="5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  <a:endParaRPr lang="en-US" altLang="en-US">
              <a:solidFill>
                <a:srgbClr val="332B60"/>
              </a:solidFill>
            </a:endParaRPr>
          </a:p>
        </p:txBody>
      </p:sp>
      <p:pic>
        <p:nvPicPr>
          <p:cNvPr id="10" name="Pilt 9">
            <a:extLst>
              <a:ext uri="{FF2B5EF4-FFF2-40B4-BE49-F238E27FC236}">
                <a16:creationId xmlns:a16="http://schemas.microsoft.com/office/drawing/2014/main" id="{7EDB3299-5C99-4B36-A0AB-229F75F6A0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rcRect r="61689"/>
          <a:stretch/>
        </p:blipFill>
        <p:spPr>
          <a:xfrm>
            <a:off x="479426" y="5768975"/>
            <a:ext cx="1144276" cy="5851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09" r:id="rId2"/>
    <p:sldLayoutId id="2147483922" r:id="rId3"/>
    <p:sldLayoutId id="2147483910" r:id="rId4"/>
    <p:sldLayoutId id="2147483911" r:id="rId5"/>
    <p:sldLayoutId id="2147483912" r:id="rId6"/>
    <p:sldLayoutId id="2147483913" r:id="rId7"/>
    <p:sldLayoutId id="2147483914" r:id="rId8"/>
    <p:sldLayoutId id="2147483915" r:id="rId9"/>
    <p:sldLayoutId id="2147483916" r:id="rId10"/>
    <p:sldLayoutId id="2147483917" r:id="rId11"/>
    <p:sldLayoutId id="2147483919" r:id="rId12"/>
    <p:sldLayoutId id="2147483923" r:id="rId13"/>
    <p:sldLayoutId id="2147483924" r:id="rId14"/>
    <p:sldLayoutId id="2147483920" r:id="rId15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2200" b="1" kern="1200" cap="all" baseline="0">
          <a:solidFill>
            <a:schemeClr val="tx2"/>
          </a:solidFill>
          <a:latin typeface="+mn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65113" indent="-265113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34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1368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346" userDrawn="1">
          <p15:clr>
            <a:srgbClr val="F26B43"/>
          </p15:clr>
        </p15:guide>
        <p15:guide id="7" orient="horz" pos="347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20FCC74-8FD0-4E4B-B372-144CA9E3F311}"/>
              </a:ext>
            </a:extLst>
          </p:cNvPr>
          <p:cNvSpPr txBox="1">
            <a:spLocks/>
          </p:cNvSpPr>
          <p:nvPr/>
        </p:nvSpPr>
        <p:spPr>
          <a:xfrm>
            <a:off x="1703540" y="3384135"/>
            <a:ext cx="10070926" cy="473881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ctr" defTabSz="6095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67" b="1" kern="1200" cap="all" spc="-67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GB" sz="2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EKX9030: Advanced characterization techniques</a:t>
            </a:r>
            <a:endParaRPr lang="en-GB" sz="28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EC82FBD-C470-4B2C-B031-C9AEF5F2AAA3}"/>
              </a:ext>
            </a:extLst>
          </p:cNvPr>
          <p:cNvSpPr txBox="1">
            <a:spLocks/>
          </p:cNvSpPr>
          <p:nvPr/>
        </p:nvSpPr>
        <p:spPr>
          <a:xfrm>
            <a:off x="61342" y="6317945"/>
            <a:ext cx="5199590" cy="47388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kumimoji="0" lang="en-GB" sz="12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LABORATORY OF INORGANIC MATERIALS,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kumimoji="0" lang="en-GB" sz="12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DEPARTMENT OF MATERIALS AND ENVIRONMENTAL TECHNOLOGY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endParaRPr lang="en-gb" sz="8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E680D8B-6173-4C86-8967-9A01A3A91DD8}"/>
              </a:ext>
            </a:extLst>
          </p:cNvPr>
          <p:cNvSpPr txBox="1">
            <a:spLocks/>
          </p:cNvSpPr>
          <p:nvPr/>
        </p:nvSpPr>
        <p:spPr>
          <a:xfrm>
            <a:off x="4253805" y="4560335"/>
            <a:ext cx="3580034" cy="419622"/>
          </a:xfrm>
          <a:prstGeom prst="rect">
            <a:avLst/>
          </a:prstGeom>
        </p:spPr>
        <p:txBody>
          <a:bodyPr vert="horz" lIns="0" tIns="0" rIns="0" bIns="0" rtlCol="0" anchor="t">
            <a:normAutofit fontScale="92500" lnSpcReduction="10000"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PRESENTER:  </a:t>
            </a:r>
            <a:r>
              <a:rPr kumimoji="0" lang="en-GB" sz="14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ADEMOLA MICHAEL ADEGBILE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 </a:t>
            </a:r>
            <a:endParaRPr lang="en-gb" sz="14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551BAD6-48D3-499C-AECC-77C773F36EB6}"/>
              </a:ext>
            </a:extLst>
          </p:cNvPr>
          <p:cNvSpPr txBox="1">
            <a:spLocks/>
          </p:cNvSpPr>
          <p:nvPr/>
        </p:nvSpPr>
        <p:spPr>
          <a:xfrm>
            <a:off x="61342" y="6101898"/>
            <a:ext cx="3688500" cy="21604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DATE: --.05.2025</a:t>
            </a:r>
            <a:endParaRPr lang="en-gb" sz="14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E7C160B-FE61-41AC-A5D1-6E9C5B23D75B}"/>
              </a:ext>
            </a:extLst>
          </p:cNvPr>
          <p:cNvSpPr txBox="1">
            <a:spLocks/>
          </p:cNvSpPr>
          <p:nvPr/>
        </p:nvSpPr>
        <p:spPr>
          <a:xfrm>
            <a:off x="508488" y="1066710"/>
            <a:ext cx="11175023" cy="3981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3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Overview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3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Background</a:t>
            </a:r>
          </a:p>
          <a:p>
            <a:pPr marL="228600" marR="0" lvl="0" indent="-228600" algn="l" defTabSz="914400" rtl="0" eaLnBrk="1" fontAlgn="auto" latinLnBrk="0" hangingPunct="1">
              <a:lnSpc>
                <a:spcPct val="3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Result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47616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3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Background: SEM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2E7859-C8A3-4420-A2D5-6F20F1100E1F}"/>
              </a:ext>
            </a:extLst>
          </p:cNvPr>
          <p:cNvSpPr txBox="1"/>
          <p:nvPr/>
        </p:nvSpPr>
        <p:spPr>
          <a:xfrm>
            <a:off x="1133605" y="926927"/>
            <a:ext cx="10960274" cy="5347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Scanning Electron Microscopy (SEM) is a high-resolution technique for imaging surface structures.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Developed between the 1930s–1960s; commercial models emerged in 1965.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Uses a focused beam of electrons to scan the specimen, producing signals from electron-sample interactions.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Captures detailed topography and composition using secondary and backscattered electrons.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Offers high magnification (up to ~1,000,000x) and excellent depth of field.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Often paired with EDS (Energy Dispersive Spectroscopy) for elemental analysis.</a:t>
            </a:r>
          </a:p>
        </p:txBody>
      </p:sp>
    </p:spTree>
    <p:extLst>
      <p:ext uri="{BB962C8B-B14F-4D97-AF65-F5344CB8AC3E}">
        <p14:creationId xmlns:p14="http://schemas.microsoft.com/office/powerpoint/2010/main" val="2943077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4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SEM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2254C-DD17-4755-935C-CBB8B246F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96" y="1008269"/>
            <a:ext cx="5638800" cy="4114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E8CD67-2CE0-441C-B1CA-009B468F4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211" y="1008270"/>
            <a:ext cx="5853038" cy="4271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023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5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Background: XRD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E9D07-84CD-41F1-A4C6-C4E4C1D28BE3}"/>
              </a:ext>
            </a:extLst>
          </p:cNvPr>
          <p:cNvSpPr txBox="1"/>
          <p:nvPr/>
        </p:nvSpPr>
        <p:spPr>
          <a:xfrm>
            <a:off x="1131813" y="875949"/>
            <a:ext cx="10943277" cy="5347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X-Ray Diffraction (XRD) is a non-destructive technique for analysing crystalline materials.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Based on the Bragg's Law principle (nλ = 2d sin θ) — relates X-ray wavelength and diffraction angle to crystal spacing.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X-rays interact with crystal lattice planes, producing a diffraction pattern.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Enables identification of phase composition, crystal structure, lattice parameters, and strain.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Widely used in materials science, chemistry, geology, and pharmaceuticals.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Gill Sans MT" panose="020B0502020104020203" pitchFamily="34" charset="0"/>
              </a:rPr>
              <a:t>Useful for analysing powders, thin films, and bulk solids.</a:t>
            </a:r>
          </a:p>
        </p:txBody>
      </p:sp>
    </p:spTree>
    <p:extLst>
      <p:ext uri="{BB962C8B-B14F-4D97-AF65-F5344CB8AC3E}">
        <p14:creationId xmlns:p14="http://schemas.microsoft.com/office/powerpoint/2010/main" val="2804185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6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XRD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3B2D0F-BA4A-4F4E-8843-0B9F6F24DE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014" t="9407" r="11292" b="4000"/>
          <a:stretch/>
        </p:blipFill>
        <p:spPr>
          <a:xfrm>
            <a:off x="2037566" y="1000829"/>
            <a:ext cx="8116866" cy="548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09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7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Background: XRF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92656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8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XRF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19268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9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Background: NMR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8507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10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NMR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714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11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62630" y="2637858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79488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esign">
  <a:themeElements>
    <a:clrScheme name="TalTech">
      <a:dk1>
        <a:srgbClr val="000000"/>
      </a:dk1>
      <a:lt1>
        <a:srgbClr val="FFFFFF"/>
      </a:lt1>
      <a:dk2>
        <a:srgbClr val="332B60"/>
      </a:dk2>
      <a:lt2>
        <a:srgbClr val="DADAE4"/>
      </a:lt2>
      <a:accent1>
        <a:srgbClr val="E4067E"/>
      </a:accent1>
      <a:accent2>
        <a:srgbClr val="9396B0"/>
      </a:accent2>
      <a:accent3>
        <a:srgbClr val="AB1352"/>
      </a:accent3>
      <a:accent4>
        <a:srgbClr val="4FBFD3"/>
      </a:accent4>
      <a:accent5>
        <a:srgbClr val="332B60"/>
      </a:accent5>
      <a:accent6>
        <a:srgbClr val="DADAE4"/>
      </a:accent6>
      <a:hlink>
        <a:srgbClr val="AB1352"/>
      </a:hlink>
      <a:folHlink>
        <a:srgbClr val="AB1352"/>
      </a:folHlink>
    </a:clrScheme>
    <a:fontScheme name="TTÜ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wrap="square" rtlCol="0" anchor="ctr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NEWNEW" id="{65034802-83F1-DE41-A876-6851A238EDFE}" vid="{814C7433-F944-B249-91D8-8F253693EC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7699671-53c0-416d-a493-795767c7de2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8CF2C98FAFF1E4F802028D6C843F0D9" ma:contentTypeVersion="18" ma:contentTypeDescription="Create a new document." ma:contentTypeScope="" ma:versionID="3a241fa42111d7d19d430df7c1a2aca9">
  <xsd:schema xmlns:xsd="http://www.w3.org/2001/XMLSchema" xmlns:xs="http://www.w3.org/2001/XMLSchema" xmlns:p="http://schemas.microsoft.com/office/2006/metadata/properties" xmlns:ns3="9ca64c10-124c-43e9-a945-60a8f4e28deb" xmlns:ns4="47699671-53c0-416d-a493-795767c7de24" targetNamespace="http://schemas.microsoft.com/office/2006/metadata/properties" ma:root="true" ma:fieldsID="d8c567517db493bb208ed37e50dea853" ns3:_="" ns4:_="">
    <xsd:import namespace="9ca64c10-124c-43e9-a945-60a8f4e28deb"/>
    <xsd:import namespace="47699671-53c0-416d-a493-795767c7de24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EventHashCode" minOccurs="0"/>
                <xsd:element ref="ns4:MediaServiceGenerationTime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a64c10-124c-43e9-a945-60a8f4e28de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699671-53c0-416d-a493-795767c7de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DE004D-AA39-4720-9E73-907DF5A178C2}">
  <ds:schemaRefs>
    <ds:schemaRef ds:uri="9ca64c10-124c-43e9-a945-60a8f4e28deb"/>
    <ds:schemaRef ds:uri="http://purl.org/dc/elements/1.1/"/>
    <ds:schemaRef ds:uri="47699671-53c0-416d-a493-795767c7de24"/>
    <ds:schemaRef ds:uri="http://schemas.microsoft.com/office/2006/documentManagement/types"/>
    <ds:schemaRef ds:uri="http://purl.org/dc/dcmitype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33ADE20-8276-422E-8D55-097BEB9DB7FF}">
  <ds:schemaRefs>
    <ds:schemaRef ds:uri="47699671-53c0-416d-a493-795767c7de24"/>
    <ds:schemaRef ds:uri="9ca64c10-124c-43e9-a945-60a8f4e28de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E5AD2C9-C5B3-468D-91FD-6CCA73A821C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3215</TotalTime>
  <Words>238</Words>
  <Application>Microsoft Office PowerPoint</Application>
  <PresentationFormat>Widescreen</PresentationFormat>
  <Paragraphs>41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Gill Sans MT</vt:lpstr>
      <vt:lpstr>Times New Roman</vt:lpstr>
      <vt:lpstr>Verdana</vt:lpstr>
      <vt:lpstr>Wingdings</vt:lpstr>
      <vt:lpstr>Office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Tallinn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PowerPointi esitlus</dc:title>
  <dc:creator>Anu Teder</dc:creator>
  <cp:lastModifiedBy>Ademola Michael Adegbile</cp:lastModifiedBy>
  <cp:revision>128</cp:revision>
  <dcterms:created xsi:type="dcterms:W3CDTF">2018-09-19T06:51:01Z</dcterms:created>
  <dcterms:modified xsi:type="dcterms:W3CDTF">2025-05-02T10:39:28Z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9643374</vt:lpwstr>
  </property>
  <property fmtid="{D5CDD505-2E9C-101B-9397-08002B2CF9AE}" pid="3" name="NXPowerLiteSettings">
    <vt:lpwstr>C780073804F000</vt:lpwstr>
  </property>
  <property fmtid="{D5CDD505-2E9C-101B-9397-08002B2CF9AE}" pid="4" name="NXPowerLiteVersion">
    <vt:lpwstr>D8.0.4</vt:lpwstr>
  </property>
  <property fmtid="{D5CDD505-2E9C-101B-9397-08002B2CF9AE}" pid="5" name="ContentTypeId">
    <vt:lpwstr>0x010100F8CF2C98FAFF1E4F802028D6C843F0D9</vt:lpwstr>
  </property>
</Properties>
</file>